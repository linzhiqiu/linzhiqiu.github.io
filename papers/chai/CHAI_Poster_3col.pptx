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51206400" cy="32918400"/>
  <p:notesSz cx="32918400" cy="5120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image" Target="../media/image-1-5.png"/><Relationship Id="rId6" Type="http://schemas.openxmlformats.org/officeDocument/2006/relationships/image" Target="../media/image-1-6.jpg"/><Relationship Id="rId7" Type="http://schemas.openxmlformats.org/officeDocument/2006/relationships/image" Target="../media/image-1-7.jpg"/><Relationship Id="rId8" Type="http://schemas.openxmlformats.org/officeDocument/2006/relationships/image" Target="../media/image-1-8.jpg"/><Relationship Id="rId9" Type="http://schemas.openxmlformats.org/officeDocument/2006/relationships/image" Target="../media/image-1-9.jpg"/><Relationship Id="rId10" Type="http://schemas.openxmlformats.org/officeDocument/2006/relationships/image" Target="../media/image-1-10.jpg"/><Relationship Id="rId11" Type="http://schemas.openxmlformats.org/officeDocument/2006/relationships/image" Target="../media/image-1-11.jpg"/><Relationship Id="rId12" Type="http://schemas.openxmlformats.org/officeDocument/2006/relationships/image" Target="../media/image-1-12.jp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0" cy="4206240"/>
          </a:xfrm>
          <a:prstGeom prst="rect">
            <a:avLst/>
          </a:prstGeom>
          <a:solidFill>
            <a:srgbClr val="0E1A3C"/>
          </a:solidFill>
          <a:ln w="12700">
            <a:solidFill>
              <a:srgbClr val="0E1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0"/>
            <a:ext cx="51206400" cy="0"/>
          </a:xfrm>
          <a:prstGeom prst="line">
            <a:avLst/>
          </a:prstGeom>
          <a:noFill/>
          <a:ln w="38100">
            <a:solidFill>
              <a:srgbClr val="C996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0" y="274320"/>
            <a:ext cx="4389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AI can generate professional videos, it needs to see like a professional.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7315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8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CHAI</a:t>
            </a:r>
            <a:endParaRPr lang="en-US" sz="13800" dirty="0"/>
          </a:p>
        </p:txBody>
      </p:sp>
      <p:sp>
        <p:nvSpPr>
          <p:cNvPr id="6" name="Text 4"/>
          <p:cNvSpPr/>
          <p:nvPr/>
        </p:nvSpPr>
        <p:spPr>
          <a:xfrm>
            <a:off x="118872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CRITIQUE-BASED HUMAN-AI OVERSIGHT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0" y="868680"/>
            <a:ext cx="3337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5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a Precise Video Language</a:t>
            </a:r>
            <a:endParaRPr lang="en-US" sz="5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5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Human–AI Oversight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412480" y="2788920"/>
            <a:ext cx="3337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Zhiqiu Lin¹  ·  Chancharik Mitra¹  ·  Siyuan Cen¹  ·  Isaac Li¹  ·  Yuhan Huang¹  ·  Yu Tong Tiffany Ling¹  ·  Hewei Wang¹  ·  Irene Pi¹  ·  </a:t>
            </a:r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Shihang Zhu¹  ·  Ryan Rao¹  ·  George Liu¹  ·  Jiaxi Li¹  ·  Ruojin Li¹  ·  Yili Han¹  ·  Yilun Du²  ·  Deva Ramanan¹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0" y="3291840"/>
            <a:ext cx="3337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C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 Carnegie Mellon University       ² Harvard University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428160" y="868680"/>
            <a:ext cx="7315200" cy="868680"/>
          </a:xfrm>
          <a:prstGeom prst="roundRect">
            <a:avLst>
              <a:gd name="adj" fmla="val 10526"/>
            </a:avLst>
          </a:prstGeom>
          <a:solidFill>
            <a:srgbClr val="FFEFBE"/>
          </a:solidFill>
          <a:ln w="12700">
            <a:solidFill>
              <a:srgbClr val="C996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428160" y="86868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8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CVPR 2026 HIGHLIGHT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2428160" y="1828800"/>
            <a:ext cx="7315200" cy="640080"/>
          </a:xfrm>
          <a:prstGeom prst="roundRect">
            <a:avLst>
              <a:gd name="adj" fmla="val 11429"/>
            </a:avLst>
          </a:prstGeom>
          <a:solidFill>
            <a:srgbClr val="C9961A"/>
          </a:solidFill>
          <a:ln w="12700">
            <a:solidFill>
              <a:srgbClr val="C996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428160" y="1828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3% OF SUBMISSIONS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428160" y="2697480"/>
            <a:ext cx="169164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6E7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428160" y="26974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0E1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211240" y="2697480"/>
            <a:ext cx="169164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6E7A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211240" y="26974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0E1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994320" y="2697480"/>
            <a:ext cx="169164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6E7A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94320" y="26974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0E1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777400" y="2697480"/>
            <a:ext cx="169164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6E7A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77400" y="26974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0E1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42816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CB3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linzhiqiu.github.io/papers/chai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4400" y="4709160"/>
            <a:ext cx="16123920" cy="3200400"/>
          </a:xfrm>
          <a:prstGeom prst="roundRect">
            <a:avLst>
              <a:gd name="adj" fmla="val 3429"/>
            </a:avLst>
          </a:prstGeom>
          <a:solidFill>
            <a:srgbClr val="0E1A3C"/>
          </a:solidFill>
          <a:ln w="12700">
            <a:solidFill>
              <a:srgbClr val="0E1A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0160" y="4983480"/>
            <a:ext cx="1539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C99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CHAI?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71600" y="5486400"/>
            <a:ext cx="152095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prompting any video generator for a </a:t>
            </a:r>
            <a:pPr indent="0" marL="0">
              <a:buNone/>
            </a:pPr>
            <a:r>
              <a:rPr lang="en-US" sz="2000" b="1" dirty="0">
                <a:solidFill>
                  <a:srgbClr val="7BB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dolly zoom</a:t>
            </a:r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pPr indent="0" marL="0">
              <a:buNone/>
            </a:pPr>
            <a:r>
              <a:rPr lang="en-US" sz="2000" b="1" dirty="0">
                <a:solidFill>
                  <a:srgbClr val="7BB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Dutch angle</a:t>
            </a:r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pPr indent="0" marL="0">
              <a:buNone/>
            </a:pPr>
            <a:r>
              <a:rPr lang="en-US" sz="2000" b="1" dirty="0">
                <a:solidFill>
                  <a:srgbClr val="7BB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POV</a:t>
            </a:r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or </a:t>
            </a:r>
            <a:pPr indent="0" marL="0">
              <a:buNone/>
            </a:pPr>
            <a:r>
              <a:rPr lang="en-US" sz="2000" b="1" dirty="0">
                <a:solidFill>
                  <a:srgbClr val="7BB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ramp</a:t>
            </a:r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You'll get a generic push-in or slow-mo. These techniques require a </a:t>
            </a:r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 of cinema</a:t>
            </a:r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current models do not speak.  </a:t>
            </a:r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built that language.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14400" y="8229600"/>
            <a:ext cx="16123920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pic>
        <p:nvPicPr>
          <p:cNvPr id="27" name="Image 0" descr="/sessions/great-bold-ptolemy/mnt/outputs/poster_work/imgs/hero_compariso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8412480"/>
            <a:ext cx="15758160" cy="420624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280160" y="12573000"/>
            <a:ext cx="1539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prompt. </a:t>
            </a:r>
            <a:pPr indent="0" marL="0">
              <a:buNone/>
            </a:pPr>
            <a:r>
              <a:rPr lang="en-US" sz="13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Wan2.2 baseline (left) ignores cinematic language; </a:t>
            </a:r>
            <a:pPr indent="0" marL="0">
              <a:buNone/>
            </a:pPr>
            <a:r>
              <a:rPr lang="en-US" sz="1300" b="1" i="1" dirty="0">
                <a:solidFill>
                  <a:srgbClr val="004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CHAI-tuned Wan2.2 (right) </a:t>
            </a:r>
            <a:pPr indent="0" marL="0">
              <a:buNone/>
            </a:pPr>
            <a:r>
              <a:rPr lang="en-US" sz="13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dolly zooms, Dutch angles, rack focus, and speed ramps faithfully.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914400" y="13761720"/>
            <a:ext cx="1612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0041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RECIPE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914400" y="14145768"/>
            <a:ext cx="16123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pieces of a precise video language</a:t>
            </a:r>
            <a:endParaRPr lang="en-US" sz="2600" dirty="0"/>
          </a:p>
        </p:txBody>
      </p:sp>
      <p:sp>
        <p:nvSpPr>
          <p:cNvPr id="31" name="Shape 28"/>
          <p:cNvSpPr/>
          <p:nvPr/>
        </p:nvSpPr>
        <p:spPr>
          <a:xfrm>
            <a:off x="914400" y="14785848"/>
            <a:ext cx="16123920" cy="0"/>
          </a:xfrm>
          <a:prstGeom prst="line">
            <a:avLst/>
          </a:prstGeom>
          <a:noFill/>
          <a:ln w="12700">
            <a:solidFill>
              <a:srgbClr val="D9D5C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14400" y="15014448"/>
            <a:ext cx="79248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010400" y="15014448"/>
            <a:ext cx="1737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30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0" dirty="0"/>
          </a:p>
        </p:txBody>
      </p:sp>
      <p:sp>
        <p:nvSpPr>
          <p:cNvPr id="34" name="Text 31"/>
          <p:cNvSpPr/>
          <p:nvPr/>
        </p:nvSpPr>
        <p:spPr>
          <a:xfrm>
            <a:off x="1280160" y="15380208"/>
            <a:ext cx="609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0041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PRECISE SPECIFICATION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1280160" y="16066008"/>
            <a:ext cx="7193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language of subject, scene, motion, spatial framing, and camera dynamics — 200+ visual primitives co-designed with cinematographers.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9113520" y="15014448"/>
            <a:ext cx="79248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5209520" y="15014448"/>
            <a:ext cx="1737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30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0" dirty="0"/>
          </a:p>
        </p:txBody>
      </p:sp>
      <p:sp>
        <p:nvSpPr>
          <p:cNvPr id="38" name="Text 35"/>
          <p:cNvSpPr/>
          <p:nvPr/>
        </p:nvSpPr>
        <p:spPr>
          <a:xfrm>
            <a:off x="9479280" y="15380208"/>
            <a:ext cx="609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0041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SCALABLE OVERSIGHT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9479280" y="16066008"/>
            <a:ext cx="7193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drafts captions; humans critique. Shifts effort from generation to verification — leveraging what each does best.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914400" y="18489168"/>
            <a:ext cx="79248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010400" y="18489168"/>
            <a:ext cx="1737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30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0" dirty="0"/>
          </a:p>
        </p:txBody>
      </p:sp>
      <p:sp>
        <p:nvSpPr>
          <p:cNvPr id="42" name="Text 39"/>
          <p:cNvSpPr/>
          <p:nvPr/>
        </p:nvSpPr>
        <p:spPr>
          <a:xfrm>
            <a:off x="1280160" y="18854928"/>
            <a:ext cx="609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0041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POST-TRAINING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1280160" y="19540728"/>
            <a:ext cx="7193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(pre-caption · critique · post-caption) triplets unlock SFT, DPO, reward modeling, and inference-time scaling at once.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9113520" y="18489168"/>
            <a:ext cx="79248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5209520" y="18489168"/>
            <a:ext cx="1737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30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0" dirty="0"/>
          </a:p>
        </p:txBody>
      </p:sp>
      <p:sp>
        <p:nvSpPr>
          <p:cNvPr id="46" name="Text 43"/>
          <p:cNvSpPr/>
          <p:nvPr/>
        </p:nvSpPr>
        <p:spPr>
          <a:xfrm>
            <a:off x="9479280" y="18854928"/>
            <a:ext cx="609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0041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BETTER GENERATION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9479280" y="19540728"/>
            <a:ext cx="7193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Re-captioned films, ads, and games fine-tune Wan2.2 to follow 400-word cinematic prompts with precise control.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914400" y="22146768"/>
            <a:ext cx="1612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0041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PRIOR WORK FALLS SHORT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914400" y="22530816"/>
            <a:ext cx="16123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Crowdworkers + 8 datasets (2016–2025)</a:t>
            </a:r>
            <a:endParaRPr lang="en-US" sz="2400" dirty="0"/>
          </a:p>
        </p:txBody>
      </p:sp>
      <p:sp>
        <p:nvSpPr>
          <p:cNvPr id="50" name="Shape 47"/>
          <p:cNvSpPr/>
          <p:nvPr/>
        </p:nvSpPr>
        <p:spPr>
          <a:xfrm>
            <a:off x="914400" y="23079456"/>
            <a:ext cx="16123920" cy="0"/>
          </a:xfrm>
          <a:prstGeom prst="line">
            <a:avLst/>
          </a:prstGeom>
          <a:noFill/>
          <a:ln w="12700">
            <a:solidFill>
              <a:srgbClr val="D9D5CF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914400" y="23308056"/>
            <a:ext cx="16123920" cy="4256532"/>
          </a:xfrm>
          <a:prstGeom prst="roundRect">
            <a:avLst>
              <a:gd name="adj" fmla="val 2578"/>
            </a:avLst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pic>
        <p:nvPicPr>
          <p:cNvPr id="52" name="Image 1" descr="/sessions/great-bold-ptolemy/mnt/outputs/poster_work/imgs/crowdsourced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97280" y="23490936"/>
            <a:ext cx="15758160" cy="3479292"/>
          </a:xfrm>
          <a:prstGeom prst="rect">
            <a:avLst/>
          </a:prstGeom>
        </p:spPr>
      </p:pic>
      <p:sp>
        <p:nvSpPr>
          <p:cNvPr id="53" name="Text 49"/>
          <p:cNvSpPr/>
          <p:nvPr/>
        </p:nvSpPr>
        <p:spPr>
          <a:xfrm>
            <a:off x="1280160" y="26924508"/>
            <a:ext cx="15392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Crowdworkers </a:t>
            </a:r>
            <a:pPr indent="0" marL="0">
              <a:buNone/>
            </a:pPr>
            <a:r>
              <a:rPr lang="en-US" sz="12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confuse dolly-in with zoom-in, call full shots "close-ups", describe fisheye distortion as "circular buildings."</a:t>
            </a:r>
            <a:endParaRPr lang="en-US" sz="1200" dirty="0"/>
          </a:p>
        </p:txBody>
      </p:sp>
      <p:sp>
        <p:nvSpPr>
          <p:cNvPr id="54" name="Shape 50"/>
          <p:cNvSpPr/>
          <p:nvPr/>
        </p:nvSpPr>
        <p:spPr>
          <a:xfrm>
            <a:off x="914400" y="27838908"/>
            <a:ext cx="7924800" cy="4256532"/>
          </a:xfrm>
          <a:prstGeom prst="roundRect">
            <a:avLst>
              <a:gd name="adj" fmla="val 2578"/>
            </a:avLst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pic>
        <p:nvPicPr>
          <p:cNvPr id="55" name="Image 2" descr="/sessions/great-bold-ptolemy/mnt/outputs/poster_work/imgs/errors_specification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51560" y="27976068"/>
            <a:ext cx="7650480" cy="3479292"/>
          </a:xfrm>
          <a:prstGeom prst="rect">
            <a:avLst/>
          </a:prstGeom>
        </p:spPr>
      </p:pic>
      <p:sp>
        <p:nvSpPr>
          <p:cNvPr id="56" name="Text 51"/>
          <p:cNvSpPr/>
          <p:nvPr/>
        </p:nvSpPr>
        <p:spPr>
          <a:xfrm>
            <a:off x="1188720" y="31501080"/>
            <a:ext cx="737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0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specification: </a:t>
            </a:r>
            <a:pPr indent="0" marL="0">
              <a:buNone/>
            </a:pPr>
            <a:r>
              <a:rPr lang="en-US" sz="11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imprecise terms, missing details, subjective adjectives.</a:t>
            </a:r>
            <a:endParaRPr lang="en-US" sz="1100" dirty="0"/>
          </a:p>
        </p:txBody>
      </p:sp>
      <p:sp>
        <p:nvSpPr>
          <p:cNvPr id="57" name="Shape 52"/>
          <p:cNvSpPr/>
          <p:nvPr/>
        </p:nvSpPr>
        <p:spPr>
          <a:xfrm>
            <a:off x="9113520" y="27838908"/>
            <a:ext cx="7924800" cy="4256532"/>
          </a:xfrm>
          <a:prstGeom prst="roundRect">
            <a:avLst>
              <a:gd name="adj" fmla="val 2578"/>
            </a:avLst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pic>
        <p:nvPicPr>
          <p:cNvPr id="58" name="Image 3" descr="/sessions/great-bold-ptolemy/mnt/outputs/poster_work/imgs/errors_oversight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50680" y="27976068"/>
            <a:ext cx="7650480" cy="3479292"/>
          </a:xfrm>
          <a:prstGeom prst="rect">
            <a:avLst/>
          </a:prstGeom>
        </p:spPr>
      </p:pic>
      <p:sp>
        <p:nvSpPr>
          <p:cNvPr id="59" name="Text 53"/>
          <p:cNvSpPr/>
          <p:nvPr/>
        </p:nvSpPr>
        <p:spPr>
          <a:xfrm>
            <a:off x="9250680" y="31501080"/>
            <a:ext cx="737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0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oversight: </a:t>
            </a:r>
            <a:pPr indent="0" marL="0">
              <a:buNone/>
            </a:pPr>
            <a:r>
              <a:rPr lang="en-US" sz="11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writing, hallucinated objects, inaccurate details.</a:t>
            </a:r>
            <a:endParaRPr lang="en-US" sz="1100" dirty="0"/>
          </a:p>
        </p:txBody>
      </p:sp>
      <p:sp>
        <p:nvSpPr>
          <p:cNvPr id="60" name="Text 54"/>
          <p:cNvSpPr/>
          <p:nvPr/>
        </p:nvSpPr>
        <p:spPr>
          <a:xfrm>
            <a:off x="17541240" y="4709160"/>
            <a:ext cx="1612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0041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SPECIFICATION</a:t>
            </a:r>
            <a:endParaRPr lang="en-US" sz="1300" dirty="0"/>
          </a:p>
        </p:txBody>
      </p:sp>
      <p:sp>
        <p:nvSpPr>
          <p:cNvPr id="61" name="Text 55"/>
          <p:cNvSpPr/>
          <p:nvPr/>
        </p:nvSpPr>
        <p:spPr>
          <a:xfrm>
            <a:off x="17541240" y="5093208"/>
            <a:ext cx="16123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Teaching AI the shared language of cinema</a:t>
            </a:r>
            <a:endParaRPr lang="en-US" sz="2600" dirty="0"/>
          </a:p>
        </p:txBody>
      </p:sp>
      <p:sp>
        <p:nvSpPr>
          <p:cNvPr id="62" name="Shape 56"/>
          <p:cNvSpPr/>
          <p:nvPr/>
        </p:nvSpPr>
        <p:spPr>
          <a:xfrm>
            <a:off x="17541240" y="5870448"/>
            <a:ext cx="16123920" cy="0"/>
          </a:xfrm>
          <a:prstGeom prst="line">
            <a:avLst/>
          </a:prstGeom>
          <a:noFill/>
          <a:ln w="12700">
            <a:solidFill>
              <a:srgbClr val="D9D5CF"/>
            </a:solidFill>
            <a:prstDash val="solid"/>
          </a:ln>
        </p:spPr>
      </p:sp>
      <p:sp>
        <p:nvSpPr>
          <p:cNvPr id="63" name="Text 57"/>
          <p:cNvSpPr/>
          <p:nvPr/>
        </p:nvSpPr>
        <p:spPr>
          <a:xfrm>
            <a:off x="17541240" y="6099048"/>
            <a:ext cx="16123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Filmmakers coordinate on set with precise terms — </a:t>
            </a:r>
            <a:pPr indent="0" marL="0">
              <a:buNone/>
            </a:pPr>
            <a:r>
              <a:rPr lang="en-US" sz="16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rack focus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pPr indent="0" marL="0">
              <a:buNone/>
            </a:pPr>
            <a:r>
              <a:rPr lang="en-US" sz="16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Dutch angle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pPr indent="0" marL="0">
              <a:buNone/>
            </a:pPr>
            <a:r>
              <a:rPr lang="en-US" sz="16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medium full shot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We formalized that vocabulary, co-designed with </a:t>
            </a:r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 professional creators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over a year-long collaboration.</a:t>
            </a:r>
            <a:endParaRPr lang="en-US" sz="1600" dirty="0"/>
          </a:p>
        </p:txBody>
      </p:sp>
      <p:sp>
        <p:nvSpPr>
          <p:cNvPr id="64" name="Shape 58"/>
          <p:cNvSpPr/>
          <p:nvPr/>
        </p:nvSpPr>
        <p:spPr>
          <a:xfrm>
            <a:off x="17541240" y="7150608"/>
            <a:ext cx="3151632" cy="777240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004194"/>
            </a:solidFill>
            <a:prstDash val="solid"/>
          </a:ln>
        </p:spPr>
      </p:sp>
      <p:sp>
        <p:nvSpPr>
          <p:cNvPr id="65" name="Text 59"/>
          <p:cNvSpPr/>
          <p:nvPr/>
        </p:nvSpPr>
        <p:spPr>
          <a:xfrm>
            <a:off x="17541240" y="7150608"/>
            <a:ext cx="31516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1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Subject</a:t>
            </a:r>
            <a:endParaRPr lang="en-US" sz="1800" dirty="0"/>
          </a:p>
        </p:txBody>
      </p:sp>
      <p:sp>
        <p:nvSpPr>
          <p:cNvPr id="66" name="Shape 60"/>
          <p:cNvSpPr/>
          <p:nvPr/>
        </p:nvSpPr>
        <p:spPr>
          <a:xfrm>
            <a:off x="20784312" y="7150608"/>
            <a:ext cx="3151632" cy="777240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004194"/>
            </a:solidFill>
            <a:prstDash val="solid"/>
          </a:ln>
        </p:spPr>
      </p:sp>
      <p:sp>
        <p:nvSpPr>
          <p:cNvPr id="67" name="Text 61"/>
          <p:cNvSpPr/>
          <p:nvPr/>
        </p:nvSpPr>
        <p:spPr>
          <a:xfrm>
            <a:off x="20784312" y="7150608"/>
            <a:ext cx="31516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1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Scene</a:t>
            </a:r>
            <a:endParaRPr lang="en-US" sz="1800" dirty="0"/>
          </a:p>
        </p:txBody>
      </p:sp>
      <p:sp>
        <p:nvSpPr>
          <p:cNvPr id="68" name="Shape 62"/>
          <p:cNvSpPr/>
          <p:nvPr/>
        </p:nvSpPr>
        <p:spPr>
          <a:xfrm>
            <a:off x="24027384" y="7150608"/>
            <a:ext cx="3151632" cy="777240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004194"/>
            </a:solidFill>
            <a:prstDash val="solid"/>
          </a:ln>
        </p:spPr>
      </p:sp>
      <p:sp>
        <p:nvSpPr>
          <p:cNvPr id="69" name="Text 63"/>
          <p:cNvSpPr/>
          <p:nvPr/>
        </p:nvSpPr>
        <p:spPr>
          <a:xfrm>
            <a:off x="24027384" y="7150608"/>
            <a:ext cx="31516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1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Motion</a:t>
            </a:r>
            <a:endParaRPr lang="en-US" sz="1800" dirty="0"/>
          </a:p>
        </p:txBody>
      </p:sp>
      <p:sp>
        <p:nvSpPr>
          <p:cNvPr id="70" name="Shape 64"/>
          <p:cNvSpPr/>
          <p:nvPr/>
        </p:nvSpPr>
        <p:spPr>
          <a:xfrm>
            <a:off x="27270456" y="7150608"/>
            <a:ext cx="3151632" cy="777240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004194"/>
            </a:solidFill>
            <a:prstDash val="solid"/>
          </a:ln>
        </p:spPr>
      </p:sp>
      <p:sp>
        <p:nvSpPr>
          <p:cNvPr id="71" name="Text 65"/>
          <p:cNvSpPr/>
          <p:nvPr/>
        </p:nvSpPr>
        <p:spPr>
          <a:xfrm>
            <a:off x="27270456" y="7150608"/>
            <a:ext cx="31516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1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Spatial</a:t>
            </a:r>
            <a:endParaRPr lang="en-US" sz="1800" dirty="0"/>
          </a:p>
        </p:txBody>
      </p:sp>
      <p:sp>
        <p:nvSpPr>
          <p:cNvPr id="72" name="Shape 66"/>
          <p:cNvSpPr/>
          <p:nvPr/>
        </p:nvSpPr>
        <p:spPr>
          <a:xfrm>
            <a:off x="30513528" y="7150608"/>
            <a:ext cx="3151632" cy="777240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004194"/>
            </a:solidFill>
            <a:prstDash val="solid"/>
          </a:ln>
        </p:spPr>
      </p:sp>
      <p:sp>
        <p:nvSpPr>
          <p:cNvPr id="73" name="Text 67"/>
          <p:cNvSpPr/>
          <p:nvPr/>
        </p:nvSpPr>
        <p:spPr>
          <a:xfrm>
            <a:off x="30513528" y="7150608"/>
            <a:ext cx="31516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1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Camera</a:t>
            </a:r>
            <a:endParaRPr lang="en-US" sz="1800" dirty="0"/>
          </a:p>
        </p:txBody>
      </p:sp>
      <p:sp>
        <p:nvSpPr>
          <p:cNvPr id="74" name="Text 68"/>
          <p:cNvSpPr/>
          <p:nvPr/>
        </p:nvSpPr>
        <p:spPr>
          <a:xfrm>
            <a:off x="17541240" y="8065008"/>
            <a:ext cx="1612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600" kern="0" dirty="0">
                <a:solidFill>
                  <a:srgbClr val="6B6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aspects   ·   200+ visual primitives   ·   17 skill categories</a:t>
            </a:r>
            <a:endParaRPr lang="en-US" sz="1100" dirty="0"/>
          </a:p>
        </p:txBody>
      </p:sp>
      <p:sp>
        <p:nvSpPr>
          <p:cNvPr id="75" name="Shape 69"/>
          <p:cNvSpPr/>
          <p:nvPr/>
        </p:nvSpPr>
        <p:spPr>
          <a:xfrm>
            <a:off x="17541240" y="8522208"/>
            <a:ext cx="16123920" cy="694944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pic>
        <p:nvPicPr>
          <p:cNvPr id="76" name="Image 4" descr="/sessions/great-bold-ptolemy/mnt/outputs/poster_work/imgs/overall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7724120" y="8705088"/>
            <a:ext cx="15758160" cy="6309360"/>
          </a:xfrm>
          <a:prstGeom prst="rect">
            <a:avLst/>
          </a:prstGeom>
        </p:spPr>
      </p:pic>
      <p:sp>
        <p:nvSpPr>
          <p:cNvPr id="77" name="Text 70"/>
          <p:cNvSpPr/>
          <p:nvPr/>
        </p:nvSpPr>
        <p:spPr>
          <a:xfrm>
            <a:off x="17815560" y="14968728"/>
            <a:ext cx="1557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taxonomy — each of 5 aspects decomposed into sub-aspects, grounded by 200+ primitives.</a:t>
            </a:r>
            <a:endParaRPr lang="en-US" sz="1100" dirty="0"/>
          </a:p>
        </p:txBody>
      </p:sp>
      <p:sp>
        <p:nvSpPr>
          <p:cNvPr id="78" name="Text 71"/>
          <p:cNvSpPr/>
          <p:nvPr/>
        </p:nvSpPr>
        <p:spPr>
          <a:xfrm>
            <a:off x="17541240" y="15837408"/>
            <a:ext cx="1612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0041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OVERSIGHT</a:t>
            </a:r>
            <a:endParaRPr lang="en-US" sz="1300" dirty="0"/>
          </a:p>
        </p:txBody>
      </p:sp>
      <p:sp>
        <p:nvSpPr>
          <p:cNvPr id="79" name="Text 72"/>
          <p:cNvSpPr/>
          <p:nvPr/>
        </p:nvSpPr>
        <p:spPr>
          <a:xfrm>
            <a:off x="17541240" y="16221456"/>
            <a:ext cx="16123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writes. Humans critique.</a:t>
            </a:r>
            <a:endParaRPr lang="en-US" sz="2600" dirty="0"/>
          </a:p>
        </p:txBody>
      </p:sp>
      <p:sp>
        <p:nvSpPr>
          <p:cNvPr id="80" name="Shape 73"/>
          <p:cNvSpPr/>
          <p:nvPr/>
        </p:nvSpPr>
        <p:spPr>
          <a:xfrm>
            <a:off x="17541240" y="16861536"/>
            <a:ext cx="16123920" cy="0"/>
          </a:xfrm>
          <a:prstGeom prst="line">
            <a:avLst/>
          </a:prstGeom>
          <a:noFill/>
          <a:ln w="12700">
            <a:solidFill>
              <a:srgbClr val="D9D5CF"/>
            </a:solidFill>
            <a:prstDash val="solid"/>
          </a:ln>
        </p:spPr>
      </p:sp>
      <p:sp>
        <p:nvSpPr>
          <p:cNvPr id="81" name="Text 74"/>
          <p:cNvSpPr/>
          <p:nvPr/>
        </p:nvSpPr>
        <p:spPr>
          <a:xfrm>
            <a:off x="17541240" y="17090136"/>
            <a:ext cx="16123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LLMs write fluently but </a:t>
            </a:r>
            <a:pPr indent="0" marL="0">
              <a:buNone/>
            </a:pPr>
            <a:r>
              <a:rPr lang="en-US" sz="16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hallucinate what they see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Humans spot visual errors but write with typos. </a:t>
            </a:r>
            <a:pPr indent="0" marL="0">
              <a:buNone/>
            </a:pPr>
            <a:r>
              <a:rPr lang="en-US" sz="1600" b="1" dirty="0">
                <a:solidFill>
                  <a:srgbClr val="0041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CHAI lets each do what they're best at.</a:t>
            </a:r>
            <a:endParaRPr lang="en-US" sz="1600" dirty="0"/>
          </a:p>
        </p:txBody>
      </p:sp>
      <p:sp>
        <p:nvSpPr>
          <p:cNvPr id="82" name="Shape 75"/>
          <p:cNvSpPr/>
          <p:nvPr/>
        </p:nvSpPr>
        <p:spPr>
          <a:xfrm>
            <a:off x="17541240" y="18004536"/>
            <a:ext cx="1612392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pic>
        <p:nvPicPr>
          <p:cNvPr id="83" name="Image 5" descr="/sessions/great-bold-ptolemy/mnt/outputs/poster_work/imgs/oversight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7724120" y="18187416"/>
            <a:ext cx="15758160" cy="4160520"/>
          </a:xfrm>
          <a:prstGeom prst="rect">
            <a:avLst/>
          </a:prstGeom>
        </p:spPr>
      </p:pic>
      <p:sp>
        <p:nvSpPr>
          <p:cNvPr id="84" name="Text 76"/>
          <p:cNvSpPr/>
          <p:nvPr/>
        </p:nvSpPr>
        <p:spPr>
          <a:xfrm>
            <a:off x="17815560" y="22393656"/>
            <a:ext cx="1557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pre-caption </a:t>
            </a:r>
            <a:pPr algn="ctr"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ctr" indent="0" marL="0">
              <a:buNone/>
            </a:pPr>
            <a:r>
              <a:rPr lang="en-US" sz="1300" b="1" dirty="0">
                <a:solidFill>
                  <a:srgbClr val="004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critique </a:t>
            </a:r>
            <a:pPr algn="ctr"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ctr" indent="0" marL="0">
              <a:buNone/>
            </a:pPr>
            <a:r>
              <a:rPr lang="en-US" sz="1300" b="1" dirty="0">
                <a:solidFill>
                  <a:srgbClr val="0E6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post-caption</a:t>
            </a:r>
            <a:endParaRPr lang="en-US" sz="1300" dirty="0"/>
          </a:p>
        </p:txBody>
      </p:sp>
      <p:sp>
        <p:nvSpPr>
          <p:cNvPr id="85" name="Shape 77"/>
          <p:cNvSpPr/>
          <p:nvPr/>
        </p:nvSpPr>
        <p:spPr>
          <a:xfrm>
            <a:off x="17541240" y="23262336"/>
            <a:ext cx="16123920" cy="8833104"/>
          </a:xfrm>
          <a:prstGeom prst="roundRect">
            <a:avLst>
              <a:gd name="adj" fmla="val 1242"/>
            </a:avLst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86" name="Text 78"/>
          <p:cNvSpPr/>
          <p:nvPr/>
        </p:nvSpPr>
        <p:spPr>
          <a:xfrm>
            <a:off x="17907000" y="23490936"/>
            <a:ext cx="1539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triplet — "Camera" aspect</a:t>
            </a:r>
            <a:endParaRPr lang="en-US" sz="1800" dirty="0"/>
          </a:p>
        </p:txBody>
      </p:sp>
      <p:sp>
        <p:nvSpPr>
          <p:cNvPr id="87" name="Text 79"/>
          <p:cNvSpPr/>
          <p:nvPr/>
        </p:nvSpPr>
        <p:spPr>
          <a:xfrm>
            <a:off x="17907000" y="23902416"/>
            <a:ext cx="1539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0041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 — angle · height · lens · focus · steadiness · movement</a:t>
            </a:r>
            <a:endParaRPr lang="en-US" sz="1100" dirty="0"/>
          </a:p>
        </p:txBody>
      </p:sp>
      <p:sp>
        <p:nvSpPr>
          <p:cNvPr id="88" name="Shape 80"/>
          <p:cNvSpPr/>
          <p:nvPr/>
        </p:nvSpPr>
        <p:spPr>
          <a:xfrm>
            <a:off x="17907000" y="24405336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EDF0F4"/>
          </a:solidFill>
          <a:ln w="9525">
            <a:solidFill>
              <a:srgbClr val="6B6560"/>
            </a:solidFill>
            <a:prstDash val="solid"/>
          </a:ln>
        </p:spPr>
      </p:sp>
      <p:sp>
        <p:nvSpPr>
          <p:cNvPr id="89" name="Text 81"/>
          <p:cNvSpPr/>
          <p:nvPr/>
        </p:nvSpPr>
        <p:spPr>
          <a:xfrm>
            <a:off x="17907000" y="24405336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6B6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</a:t>
            </a:r>
            <a:endParaRPr lang="en-US" sz="1100" dirty="0"/>
          </a:p>
        </p:txBody>
      </p:sp>
      <p:sp>
        <p:nvSpPr>
          <p:cNvPr id="90" name="Text 82"/>
          <p:cNvSpPr/>
          <p:nvPr/>
        </p:nvSpPr>
        <p:spPr>
          <a:xfrm>
            <a:off x="19507200" y="24359616"/>
            <a:ext cx="13792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man stands on a street at sunset. The camera moves forward and zooms in. He has dark hair and looks </a:t>
            </a:r>
            <a:pPr indent="0" marL="0">
              <a:buNone/>
            </a:pPr>
            <a:r>
              <a:rPr lang="en-US" sz="1400" b="1" dirty="0">
                <a:solidFill>
                  <a:srgbClr val="C04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forward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while drawing a pistol from his </a:t>
            </a:r>
            <a:pPr indent="0" marL="0">
              <a:buNone/>
            </a:pPr>
            <a:r>
              <a:rPr lang="en-US" sz="1400" b="1" dirty="0">
                <a:solidFill>
                  <a:srgbClr val="C04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left hip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."</a:t>
            </a:r>
            <a:endParaRPr lang="en-US" sz="1400" dirty="0"/>
          </a:p>
        </p:txBody>
      </p:sp>
      <p:sp>
        <p:nvSpPr>
          <p:cNvPr id="91" name="Shape 83"/>
          <p:cNvSpPr/>
          <p:nvPr/>
        </p:nvSpPr>
        <p:spPr>
          <a:xfrm>
            <a:off x="17907000" y="26051256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EFF6FF"/>
          </a:solidFill>
          <a:ln w="9525">
            <a:solidFill>
              <a:srgbClr val="004194"/>
            </a:solidFill>
            <a:prstDash val="solid"/>
          </a:ln>
        </p:spPr>
      </p:sp>
      <p:sp>
        <p:nvSpPr>
          <p:cNvPr id="92" name="Text 84"/>
          <p:cNvSpPr/>
          <p:nvPr/>
        </p:nvSpPr>
        <p:spPr>
          <a:xfrm>
            <a:off x="17907000" y="26051256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0041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CRITIQUE</a:t>
            </a:r>
            <a:endParaRPr lang="en-US" sz="1100" dirty="0"/>
          </a:p>
        </p:txBody>
      </p:sp>
      <p:sp>
        <p:nvSpPr>
          <p:cNvPr id="93" name="Text 85"/>
          <p:cNvSpPr/>
          <p:nvPr/>
        </p:nvSpPr>
        <p:spPr>
          <a:xfrm>
            <a:off x="19507200" y="26005536"/>
            <a:ext cx="13792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camera should </a:t>
            </a:r>
            <a:pPr indent="0" marL="0">
              <a:buNone/>
            </a:pPr>
            <a:r>
              <a:rPr lang="en-US" sz="1400" b="1" dirty="0">
                <a:solidFill>
                  <a:srgbClr val="0041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dolly out while zooming in (dolly zoom out)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not just push forward. Subject draws his pistol from his </a:t>
            </a:r>
            <a:pPr indent="0" marL="0">
              <a:buNone/>
            </a:pPr>
            <a:r>
              <a:rPr lang="en-US" sz="1400" b="1" dirty="0">
                <a:solidFill>
                  <a:srgbClr val="0041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 hip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left/right is reversed.</a:t>
            </a:r>
            <a:endParaRPr lang="en-US" sz="1400" dirty="0"/>
          </a:p>
        </p:txBody>
      </p:sp>
      <p:sp>
        <p:nvSpPr>
          <p:cNvPr id="94" name="Shape 86"/>
          <p:cNvSpPr/>
          <p:nvPr/>
        </p:nvSpPr>
        <p:spPr>
          <a:xfrm>
            <a:off x="17907000" y="27697176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DCF2E4"/>
          </a:solidFill>
          <a:ln w="9525">
            <a:solidFill>
              <a:srgbClr val="0E6B34"/>
            </a:solidFill>
            <a:prstDash val="solid"/>
          </a:ln>
        </p:spPr>
      </p:sp>
      <p:sp>
        <p:nvSpPr>
          <p:cNvPr id="95" name="Text 87"/>
          <p:cNvSpPr/>
          <p:nvPr/>
        </p:nvSpPr>
        <p:spPr>
          <a:xfrm>
            <a:off x="17907000" y="27697176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0E6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100" dirty="0"/>
          </a:p>
        </p:txBody>
      </p:sp>
      <p:sp>
        <p:nvSpPr>
          <p:cNvPr id="96" name="Text 88"/>
          <p:cNvSpPr/>
          <p:nvPr/>
        </p:nvSpPr>
        <p:spPr>
          <a:xfrm>
            <a:off x="19507200" y="27651456"/>
            <a:ext cx="13792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"Medium shot at sunset on a Western street. The camera executes a </a:t>
            </a:r>
            <a:pPr indent="0" marL="0">
              <a:buNone/>
            </a:pPr>
            <a:r>
              <a:rPr lang="en-US" sz="1400" b="1" dirty="0">
                <a:solidFill>
                  <a:srgbClr val="0E6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dolly zoom out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pulling back while the lens zooms in, compressing the background. The young man stares ahead, drawing a pistol from his </a:t>
            </a:r>
            <a:pPr indent="0" marL="0">
              <a:buNone/>
            </a:pPr>
            <a:r>
              <a:rPr lang="en-US" sz="1400" b="1" dirty="0">
                <a:solidFill>
                  <a:srgbClr val="0E6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 hip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."</a:t>
            </a:r>
            <a:endParaRPr lang="en-US" sz="1400" dirty="0"/>
          </a:p>
        </p:txBody>
      </p:sp>
      <p:sp>
        <p:nvSpPr>
          <p:cNvPr id="97" name="Shape 89"/>
          <p:cNvSpPr/>
          <p:nvPr/>
        </p:nvSpPr>
        <p:spPr>
          <a:xfrm>
            <a:off x="17907000" y="29434536"/>
            <a:ext cx="15392400" cy="1005840"/>
          </a:xfrm>
          <a:prstGeom prst="roundRect">
            <a:avLst>
              <a:gd name="adj" fmla="val 9091"/>
            </a:avLst>
          </a:prstGeom>
          <a:solidFill>
            <a:srgbClr val="0E1A3C"/>
          </a:solidFill>
          <a:ln w="12700">
            <a:solidFill>
              <a:srgbClr val="0E1A3C"/>
            </a:solidFill>
            <a:prstDash val="solid"/>
          </a:ln>
        </p:spPr>
      </p:sp>
      <p:sp>
        <p:nvSpPr>
          <p:cNvPr id="98" name="Text 90"/>
          <p:cNvSpPr/>
          <p:nvPr/>
        </p:nvSpPr>
        <p:spPr>
          <a:xfrm>
            <a:off x="18181320" y="29525976"/>
            <a:ext cx="1484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99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 works: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critique is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(names the technique),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actionable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(tells the model how to fix it), and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verifiable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(left/right is checkable from the video). </a:t>
            </a:r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That's the 80% of caption quality prior datasets miss.</a:t>
            </a:r>
            <a:endParaRPr lang="en-US" sz="1300" dirty="0"/>
          </a:p>
        </p:txBody>
      </p:sp>
      <p:sp>
        <p:nvSpPr>
          <p:cNvPr id="99" name="Text 91"/>
          <p:cNvSpPr/>
          <p:nvPr/>
        </p:nvSpPr>
        <p:spPr>
          <a:xfrm>
            <a:off x="34168080" y="4709160"/>
            <a:ext cx="1612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0041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POST-TRAINING</a:t>
            </a:r>
            <a:endParaRPr lang="en-US" sz="1300" dirty="0"/>
          </a:p>
        </p:txBody>
      </p:sp>
      <p:sp>
        <p:nvSpPr>
          <p:cNvPr id="100" name="Text 92"/>
          <p:cNvSpPr/>
          <p:nvPr/>
        </p:nvSpPr>
        <p:spPr>
          <a:xfrm>
            <a:off x="34168080" y="5093208"/>
            <a:ext cx="16123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8B model beats GPT-5 &amp; Gemini-3.1</a:t>
            </a:r>
            <a:endParaRPr lang="en-US" sz="2600" dirty="0"/>
          </a:p>
        </p:txBody>
      </p:sp>
      <p:sp>
        <p:nvSpPr>
          <p:cNvPr id="101" name="Shape 93"/>
          <p:cNvSpPr/>
          <p:nvPr/>
        </p:nvSpPr>
        <p:spPr>
          <a:xfrm>
            <a:off x="34168080" y="5870448"/>
            <a:ext cx="16123920" cy="0"/>
          </a:xfrm>
          <a:prstGeom prst="line">
            <a:avLst/>
          </a:prstGeom>
          <a:noFill/>
          <a:ln w="12700">
            <a:solidFill>
              <a:srgbClr val="D9D5CF"/>
            </a:solidFill>
            <a:prstDash val="solid"/>
          </a:ln>
        </p:spPr>
      </p:sp>
      <p:sp>
        <p:nvSpPr>
          <p:cNvPr id="102" name="Shape 94"/>
          <p:cNvSpPr/>
          <p:nvPr/>
        </p:nvSpPr>
        <p:spPr>
          <a:xfrm>
            <a:off x="34168080" y="6099048"/>
            <a:ext cx="16123920" cy="2194560"/>
          </a:xfrm>
          <a:prstGeom prst="roundRect">
            <a:avLst>
              <a:gd name="adj" fmla="val 5000"/>
            </a:avLst>
          </a:prstGeom>
          <a:solidFill>
            <a:srgbClr val="0E1A3C"/>
          </a:solidFill>
          <a:ln w="12700">
            <a:solidFill>
              <a:srgbClr val="0E1A3C"/>
            </a:solidFill>
            <a:prstDash val="solid"/>
          </a:ln>
        </p:spPr>
      </p:sp>
      <p:sp>
        <p:nvSpPr>
          <p:cNvPr id="103" name="Text 95"/>
          <p:cNvSpPr/>
          <p:nvPr/>
        </p:nvSpPr>
        <p:spPr>
          <a:xfrm>
            <a:off x="34533840" y="6327648"/>
            <a:ext cx="1539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Qwen3-VL-8B</a:t>
            </a:r>
            <a:endParaRPr lang="en-US" sz="3800" dirty="0"/>
          </a:p>
        </p:txBody>
      </p:sp>
      <p:sp>
        <p:nvSpPr>
          <p:cNvPr id="104" name="Text 96"/>
          <p:cNvSpPr/>
          <p:nvPr/>
        </p:nvSpPr>
        <p:spPr>
          <a:xfrm>
            <a:off x="34533840" y="7104888"/>
            <a:ext cx="1539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800" kern="0" dirty="0">
                <a:solidFill>
                  <a:srgbClr val="C99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OUTPERFORMS GPT-5  ·  GEMINI-3.1-PRO</a:t>
            </a:r>
            <a:endParaRPr lang="en-US" sz="1400" dirty="0"/>
          </a:p>
        </p:txBody>
      </p:sp>
      <p:sp>
        <p:nvSpPr>
          <p:cNvPr id="105" name="Text 97"/>
          <p:cNvSpPr/>
          <p:nvPr/>
        </p:nvSpPr>
        <p:spPr>
          <a:xfrm>
            <a:off x="34533840" y="7516368"/>
            <a:ext cx="15392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caption generation, reward modeling, and critique generation — trained from CHAI's (pre, critique, post) triplets.</a:t>
            </a:r>
            <a:endParaRPr lang="en-US" sz="1400" dirty="0"/>
          </a:p>
        </p:txBody>
      </p:sp>
      <p:sp>
        <p:nvSpPr>
          <p:cNvPr id="106" name="Shape 98"/>
          <p:cNvSpPr/>
          <p:nvPr/>
        </p:nvSpPr>
        <p:spPr>
          <a:xfrm>
            <a:off x="34168080" y="8613648"/>
            <a:ext cx="16123920" cy="694944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107" name="Text 99"/>
          <p:cNvSpPr/>
          <p:nvPr/>
        </p:nvSpPr>
        <p:spPr>
          <a:xfrm>
            <a:off x="34533840" y="8842248"/>
            <a:ext cx="1539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Critique quality is the bottleneck</a:t>
            </a:r>
            <a:endParaRPr lang="en-US" sz="2000" dirty="0"/>
          </a:p>
        </p:txBody>
      </p:sp>
      <p:sp>
        <p:nvSpPr>
          <p:cNvPr id="108" name="Text 100"/>
          <p:cNvSpPr/>
          <p:nvPr/>
        </p:nvSpPr>
        <p:spPr>
          <a:xfrm>
            <a:off x="34533840" y="9390888"/>
            <a:ext cx="1539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Weakening any single dimension (precision · recall · constructiveness) degrades post-training.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533840" y="9985248"/>
          <a:ext cx="15392400" cy="914400"/>
        </p:xfrm>
        <a:graphic>
          <a:graphicData uri="http://schemas.openxmlformats.org/drawingml/2006/table">
            <a:tbl>
              <a:tblPr/>
              <a:tblGrid>
                <a:gridCol w="4617720"/>
                <a:gridCol w="1231392"/>
                <a:gridCol w="1231392"/>
                <a:gridCol w="1539240"/>
                <a:gridCol w="2154936"/>
                <a:gridCol w="2154936"/>
                <a:gridCol w="246278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CRITIQUE TYPE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PREC.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REC.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CONSTR.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CAPTION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REWARD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CRITIQUE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Blind Gemini-2.5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Gemini-2.5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Inaccurate critique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4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6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6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Incomplete critique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6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4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6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Unhelpful critique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6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6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4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CHAI (no quality check)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CHAI (with quality check)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18.2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89.8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41.7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94"/>
                    </a:solidFill>
                  </a:tcPr>
                </a:tc>
              </a:tr>
            </a:tbl>
          </a:graphicData>
        </a:graphic>
      </p:graphicFrame>
      <p:sp>
        <p:nvSpPr>
          <p:cNvPr id="110" name="Text 101"/>
          <p:cNvSpPr/>
          <p:nvPr/>
        </p:nvSpPr>
        <p:spPr>
          <a:xfrm>
            <a:off x="34533840" y="13286232"/>
            <a:ext cx="1539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041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111" name="Text 102"/>
          <p:cNvSpPr/>
          <p:nvPr/>
        </p:nvSpPr>
        <p:spPr>
          <a:xfrm>
            <a:off x="34533840" y="13651992"/>
            <a:ext cx="15392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Explicit preference + critique supervision improves SFT and RL.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Critique quality (precision · recall · constructiveness) is THE bottleneck.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Inference-time best-of-N with our reward model adds further gains — no extra labels.</a:t>
            </a:r>
            <a:endParaRPr lang="en-US" sz="1300" dirty="0"/>
          </a:p>
        </p:txBody>
      </p:sp>
      <p:sp>
        <p:nvSpPr>
          <p:cNvPr id="112" name="Text 103"/>
          <p:cNvSpPr/>
          <p:nvPr/>
        </p:nvSpPr>
        <p:spPr>
          <a:xfrm>
            <a:off x="34168080" y="15883128"/>
            <a:ext cx="1612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0041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APPLICATION</a:t>
            </a:r>
            <a:endParaRPr lang="en-US" sz="1300" dirty="0"/>
          </a:p>
        </p:txBody>
      </p:sp>
      <p:sp>
        <p:nvSpPr>
          <p:cNvPr id="113" name="Text 104"/>
          <p:cNvSpPr/>
          <p:nvPr/>
        </p:nvSpPr>
        <p:spPr>
          <a:xfrm>
            <a:off x="34168080" y="16267176"/>
            <a:ext cx="16123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understanding → better generation</a:t>
            </a:r>
            <a:endParaRPr lang="en-US" sz="2400" dirty="0"/>
          </a:p>
        </p:txBody>
      </p:sp>
      <p:sp>
        <p:nvSpPr>
          <p:cNvPr id="114" name="Shape 105"/>
          <p:cNvSpPr/>
          <p:nvPr/>
        </p:nvSpPr>
        <p:spPr>
          <a:xfrm>
            <a:off x="34168080" y="16907256"/>
            <a:ext cx="16123920" cy="0"/>
          </a:xfrm>
          <a:prstGeom prst="line">
            <a:avLst/>
          </a:prstGeom>
          <a:noFill/>
          <a:ln w="12700">
            <a:solidFill>
              <a:srgbClr val="D9D5CF"/>
            </a:solidFill>
            <a:prstDash val="solid"/>
          </a:ln>
        </p:spPr>
      </p:sp>
      <p:sp>
        <p:nvSpPr>
          <p:cNvPr id="115" name="Text 106"/>
          <p:cNvSpPr/>
          <p:nvPr/>
        </p:nvSpPr>
        <p:spPr>
          <a:xfrm>
            <a:off x="34168080" y="17090136"/>
            <a:ext cx="16123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re-caption professional videos (films, ads, music videos, games) and fine-tune Wan2.2 to follow 400-word cinematic prompts with precise control.</a:t>
            </a:r>
            <a:endParaRPr lang="en-US" sz="1400" dirty="0"/>
          </a:p>
        </p:txBody>
      </p:sp>
      <p:sp>
        <p:nvSpPr>
          <p:cNvPr id="116" name="Shape 107"/>
          <p:cNvSpPr/>
          <p:nvPr/>
        </p:nvSpPr>
        <p:spPr>
          <a:xfrm>
            <a:off x="34168080" y="17867376"/>
            <a:ext cx="5313680" cy="6976872"/>
          </a:xfrm>
          <a:prstGeom prst="roundRect">
            <a:avLst>
              <a:gd name="adj" fmla="val 2065"/>
            </a:avLst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pic>
        <p:nvPicPr>
          <p:cNvPr id="117" name="Image 6" descr="/sessions/great-bold-ptolemy/mnt/outputs/poster_work/imgs/v_dolly_zoom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4259520" y="17958816"/>
            <a:ext cx="5130800" cy="6428232"/>
          </a:xfrm>
          <a:prstGeom prst="rect">
            <a:avLst/>
          </a:prstGeom>
        </p:spPr>
      </p:pic>
      <p:sp>
        <p:nvSpPr>
          <p:cNvPr id="118" name="Shape 108"/>
          <p:cNvSpPr/>
          <p:nvPr/>
        </p:nvSpPr>
        <p:spPr>
          <a:xfrm>
            <a:off x="34168080" y="24387048"/>
            <a:ext cx="5313680" cy="457200"/>
          </a:xfrm>
          <a:prstGeom prst="rect">
            <a:avLst/>
          </a:prstGeom>
          <a:solidFill>
            <a:srgbClr val="004194"/>
          </a:solidFill>
          <a:ln w="12700">
            <a:solidFill>
              <a:srgbClr val="004194"/>
            </a:solidFill>
            <a:prstDash val="solid"/>
          </a:ln>
        </p:spPr>
      </p:sp>
      <p:sp>
        <p:nvSpPr>
          <p:cNvPr id="119" name="Text 109"/>
          <p:cNvSpPr/>
          <p:nvPr/>
        </p:nvSpPr>
        <p:spPr>
          <a:xfrm>
            <a:off x="34168080" y="24387048"/>
            <a:ext cx="531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DOLLY ZOOM</a:t>
            </a:r>
            <a:endParaRPr lang="en-US" sz="1200" dirty="0"/>
          </a:p>
        </p:txBody>
      </p:sp>
      <p:sp>
        <p:nvSpPr>
          <p:cNvPr id="120" name="Shape 110"/>
          <p:cNvSpPr/>
          <p:nvPr/>
        </p:nvSpPr>
        <p:spPr>
          <a:xfrm>
            <a:off x="39573200" y="17867376"/>
            <a:ext cx="5313680" cy="6976872"/>
          </a:xfrm>
          <a:prstGeom prst="roundRect">
            <a:avLst>
              <a:gd name="adj" fmla="val 2065"/>
            </a:avLst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pic>
        <p:nvPicPr>
          <p:cNvPr id="121" name="Image 7" descr="/sessions/great-bold-ptolemy/mnt/outputs/poster_work/imgs/v_dutch_angle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39664640" y="17958816"/>
            <a:ext cx="5130800" cy="6428232"/>
          </a:xfrm>
          <a:prstGeom prst="rect">
            <a:avLst/>
          </a:prstGeom>
        </p:spPr>
      </p:pic>
      <p:sp>
        <p:nvSpPr>
          <p:cNvPr id="122" name="Shape 111"/>
          <p:cNvSpPr/>
          <p:nvPr/>
        </p:nvSpPr>
        <p:spPr>
          <a:xfrm>
            <a:off x="39573200" y="24387048"/>
            <a:ext cx="5313680" cy="457200"/>
          </a:xfrm>
          <a:prstGeom prst="rect">
            <a:avLst/>
          </a:prstGeom>
          <a:solidFill>
            <a:srgbClr val="004194"/>
          </a:solidFill>
          <a:ln w="12700">
            <a:solidFill>
              <a:srgbClr val="004194"/>
            </a:solidFill>
            <a:prstDash val="solid"/>
          </a:ln>
        </p:spPr>
      </p:sp>
      <p:sp>
        <p:nvSpPr>
          <p:cNvPr id="123" name="Text 112"/>
          <p:cNvSpPr/>
          <p:nvPr/>
        </p:nvSpPr>
        <p:spPr>
          <a:xfrm>
            <a:off x="39573200" y="24387048"/>
            <a:ext cx="531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DUTCH ANGLE</a:t>
            </a:r>
            <a:endParaRPr lang="en-US" sz="1200" dirty="0"/>
          </a:p>
        </p:txBody>
      </p:sp>
      <p:sp>
        <p:nvSpPr>
          <p:cNvPr id="124" name="Shape 113"/>
          <p:cNvSpPr/>
          <p:nvPr/>
        </p:nvSpPr>
        <p:spPr>
          <a:xfrm>
            <a:off x="44978320" y="17867376"/>
            <a:ext cx="5313680" cy="6976872"/>
          </a:xfrm>
          <a:prstGeom prst="roundRect">
            <a:avLst>
              <a:gd name="adj" fmla="val 2065"/>
            </a:avLst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pic>
        <p:nvPicPr>
          <p:cNvPr id="125" name="Image 8" descr="/sessions/great-bold-ptolemy/mnt/outputs/poster_work/imgs/v_rack_focus.jp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5069760" y="17958816"/>
            <a:ext cx="5130800" cy="6428232"/>
          </a:xfrm>
          <a:prstGeom prst="rect">
            <a:avLst/>
          </a:prstGeom>
        </p:spPr>
      </p:pic>
      <p:sp>
        <p:nvSpPr>
          <p:cNvPr id="126" name="Shape 114"/>
          <p:cNvSpPr/>
          <p:nvPr/>
        </p:nvSpPr>
        <p:spPr>
          <a:xfrm>
            <a:off x="44978320" y="24387048"/>
            <a:ext cx="5313680" cy="457200"/>
          </a:xfrm>
          <a:prstGeom prst="rect">
            <a:avLst/>
          </a:prstGeom>
          <a:solidFill>
            <a:srgbClr val="004194"/>
          </a:solidFill>
          <a:ln w="12700">
            <a:solidFill>
              <a:srgbClr val="004194"/>
            </a:solidFill>
            <a:prstDash val="solid"/>
          </a:ln>
        </p:spPr>
      </p:sp>
      <p:sp>
        <p:nvSpPr>
          <p:cNvPr id="127" name="Text 115"/>
          <p:cNvSpPr/>
          <p:nvPr/>
        </p:nvSpPr>
        <p:spPr>
          <a:xfrm>
            <a:off x="44978320" y="24387048"/>
            <a:ext cx="531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RACK FOCUS</a:t>
            </a:r>
            <a:endParaRPr lang="en-US" sz="1200" dirty="0"/>
          </a:p>
        </p:txBody>
      </p:sp>
      <p:sp>
        <p:nvSpPr>
          <p:cNvPr id="128" name="Shape 116"/>
          <p:cNvSpPr/>
          <p:nvPr/>
        </p:nvSpPr>
        <p:spPr>
          <a:xfrm>
            <a:off x="34168080" y="25027128"/>
            <a:ext cx="5313680" cy="6976872"/>
          </a:xfrm>
          <a:prstGeom prst="roundRect">
            <a:avLst>
              <a:gd name="adj" fmla="val 2065"/>
            </a:avLst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pic>
        <p:nvPicPr>
          <p:cNvPr id="129" name="Image 9" descr="/sessions/great-bold-ptolemy/mnt/outputs/poster_work/imgs/v_speed_ramp.jp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34259520" y="25118568"/>
            <a:ext cx="5130800" cy="6428232"/>
          </a:xfrm>
          <a:prstGeom prst="rect">
            <a:avLst/>
          </a:prstGeom>
        </p:spPr>
      </p:pic>
      <p:sp>
        <p:nvSpPr>
          <p:cNvPr id="130" name="Shape 117"/>
          <p:cNvSpPr/>
          <p:nvPr/>
        </p:nvSpPr>
        <p:spPr>
          <a:xfrm>
            <a:off x="34168080" y="31546800"/>
            <a:ext cx="5313680" cy="457200"/>
          </a:xfrm>
          <a:prstGeom prst="rect">
            <a:avLst/>
          </a:prstGeom>
          <a:solidFill>
            <a:srgbClr val="004194"/>
          </a:solidFill>
          <a:ln w="12700">
            <a:solidFill>
              <a:srgbClr val="004194"/>
            </a:solidFill>
            <a:prstDash val="solid"/>
          </a:ln>
        </p:spPr>
      </p:sp>
      <p:sp>
        <p:nvSpPr>
          <p:cNvPr id="131" name="Text 118"/>
          <p:cNvSpPr/>
          <p:nvPr/>
        </p:nvSpPr>
        <p:spPr>
          <a:xfrm>
            <a:off x="34168080" y="31546800"/>
            <a:ext cx="531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 RAMP</a:t>
            </a:r>
            <a:endParaRPr lang="en-US" sz="1200" dirty="0"/>
          </a:p>
        </p:txBody>
      </p:sp>
      <p:sp>
        <p:nvSpPr>
          <p:cNvPr id="132" name="Shape 119"/>
          <p:cNvSpPr/>
          <p:nvPr/>
        </p:nvSpPr>
        <p:spPr>
          <a:xfrm>
            <a:off x="39573200" y="25027128"/>
            <a:ext cx="5313680" cy="6976872"/>
          </a:xfrm>
          <a:prstGeom prst="roundRect">
            <a:avLst>
              <a:gd name="adj" fmla="val 2065"/>
            </a:avLst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pic>
        <p:nvPicPr>
          <p:cNvPr id="133" name="Image 10" descr="/sessions/great-bold-ptolemy/mnt/outputs/poster_work/imgs/v_shotsize_change.jp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39664640" y="25118568"/>
            <a:ext cx="5130800" cy="6428232"/>
          </a:xfrm>
          <a:prstGeom prst="rect">
            <a:avLst/>
          </a:prstGeom>
        </p:spPr>
      </p:pic>
      <p:sp>
        <p:nvSpPr>
          <p:cNvPr id="134" name="Shape 120"/>
          <p:cNvSpPr/>
          <p:nvPr/>
        </p:nvSpPr>
        <p:spPr>
          <a:xfrm>
            <a:off x="39573200" y="31546800"/>
            <a:ext cx="5313680" cy="457200"/>
          </a:xfrm>
          <a:prstGeom prst="rect">
            <a:avLst/>
          </a:prstGeom>
          <a:solidFill>
            <a:srgbClr val="004194"/>
          </a:solidFill>
          <a:ln w="12700">
            <a:solidFill>
              <a:srgbClr val="004194"/>
            </a:solidFill>
            <a:prstDash val="solid"/>
          </a:ln>
        </p:spPr>
      </p:sp>
      <p:sp>
        <p:nvSpPr>
          <p:cNvPr id="135" name="Text 121"/>
          <p:cNvSpPr/>
          <p:nvPr/>
        </p:nvSpPr>
        <p:spPr>
          <a:xfrm>
            <a:off x="39573200" y="31546800"/>
            <a:ext cx="531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SHOT SIZE → CLOSE-UP</a:t>
            </a:r>
            <a:endParaRPr lang="en-US" sz="1200" dirty="0"/>
          </a:p>
        </p:txBody>
      </p:sp>
      <p:sp>
        <p:nvSpPr>
          <p:cNvPr id="136" name="Shape 122"/>
          <p:cNvSpPr/>
          <p:nvPr/>
        </p:nvSpPr>
        <p:spPr>
          <a:xfrm>
            <a:off x="44978320" y="25027128"/>
            <a:ext cx="5313680" cy="6976872"/>
          </a:xfrm>
          <a:prstGeom prst="roundRect">
            <a:avLst>
              <a:gd name="adj" fmla="val 2065"/>
            </a:avLst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pic>
        <p:nvPicPr>
          <p:cNvPr id="137" name="Image 11" descr="/sessions/great-bold-ptolemy/mnt/outputs/poster_work/imgs/v_isometric.jp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45069760" y="25118568"/>
            <a:ext cx="5130800" cy="6428232"/>
          </a:xfrm>
          <a:prstGeom prst="rect">
            <a:avLst/>
          </a:prstGeom>
        </p:spPr>
      </p:pic>
      <p:sp>
        <p:nvSpPr>
          <p:cNvPr id="138" name="Shape 123"/>
          <p:cNvSpPr/>
          <p:nvPr/>
        </p:nvSpPr>
        <p:spPr>
          <a:xfrm>
            <a:off x="44978320" y="31546800"/>
            <a:ext cx="5313680" cy="457200"/>
          </a:xfrm>
          <a:prstGeom prst="rect">
            <a:avLst/>
          </a:prstGeom>
          <a:solidFill>
            <a:srgbClr val="004194"/>
          </a:solidFill>
          <a:ln w="12700">
            <a:solidFill>
              <a:srgbClr val="004194"/>
            </a:solidFill>
            <a:prstDash val="solid"/>
          </a:ln>
        </p:spPr>
      </p:sp>
      <p:sp>
        <p:nvSpPr>
          <p:cNvPr id="139" name="Text 124"/>
          <p:cNvSpPr/>
          <p:nvPr/>
        </p:nvSpPr>
        <p:spPr>
          <a:xfrm>
            <a:off x="44978320" y="31546800"/>
            <a:ext cx="531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ISOMETRIC (GAME)</a:t>
            </a:r>
            <a:endParaRPr lang="en-US" sz="1200" dirty="0"/>
          </a:p>
        </p:txBody>
      </p:sp>
      <p:sp>
        <p:nvSpPr>
          <p:cNvPr id="140" name="Shape 125"/>
          <p:cNvSpPr/>
          <p:nvPr/>
        </p:nvSpPr>
        <p:spPr>
          <a:xfrm>
            <a:off x="0" y="32324040"/>
            <a:ext cx="51206400" cy="594360"/>
          </a:xfrm>
          <a:prstGeom prst="rect">
            <a:avLst/>
          </a:prstGeom>
          <a:solidFill>
            <a:srgbClr val="0E1A3C"/>
          </a:solidFill>
          <a:ln w="12700">
            <a:solidFill>
              <a:srgbClr val="0E1A3C"/>
            </a:solidFill>
            <a:prstDash val="solid"/>
          </a:ln>
        </p:spPr>
      </p:sp>
      <p:sp>
        <p:nvSpPr>
          <p:cNvPr id="141" name="Text 126"/>
          <p:cNvSpPr/>
          <p:nvPr/>
        </p:nvSpPr>
        <p:spPr>
          <a:xfrm>
            <a:off x="0" y="32324040"/>
            <a:ext cx="5120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linzhiqiu.github.io/papers/chai</a:t>
            </a:r>
            <a:pPr algn="ctr" indent="0" marL="0">
              <a:buNone/>
            </a:pPr>
            <a:r>
              <a:rPr lang="en-US" sz="1400" dirty="0">
                <a:solidFill>
                  <a:srgbClr val="6E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</a:t>
            </a:r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github.com/chancharikmitra/CHAI</a:t>
            </a:r>
            <a:pPr algn="ctr" indent="0" marL="0">
              <a:buNone/>
            </a:pPr>
            <a:r>
              <a:rPr lang="en-US" sz="1400" dirty="0">
                <a:solidFill>
                  <a:srgbClr val="6E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</a:t>
            </a:r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huggingface.co/datasets/chancharikm/CHAI_testset</a:t>
            </a:r>
            <a:pPr algn="ctr" indent="0" marL="0">
              <a:buNone/>
            </a:pPr>
            <a:r>
              <a:rPr lang="en-US" sz="1400" dirty="0">
                <a:solidFill>
                  <a:srgbClr val="6E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</a:t>
            </a:r>
            <a:pPr algn="ctr" indent="0" marL="0">
              <a:buNone/>
            </a:pPr>
            <a:r>
              <a:rPr lang="en-US" sz="1400" dirty="0">
                <a:solidFill>
                  <a:srgbClr val="9C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</a:t>
            </a:r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zhiqiulin98@gmail.com</a:t>
            </a:r>
            <a:pPr algn="ctr" indent="0" marL="0">
              <a:buNone/>
            </a:pPr>
            <a:r>
              <a:rPr lang="en-US" sz="1400" dirty="0">
                <a:solidFill>
                  <a:srgbClr val="6E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</a:t>
            </a:r>
            <a:pPr algn="ctr" indent="0" marL="0">
              <a:buNone/>
            </a:pPr>
            <a:r>
              <a:rPr lang="en-US" sz="1300" i="1" dirty="0">
                <a:solidFill>
                  <a:srgbClr val="9C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CMU · Harvard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2026-05-04T06:14:12Z</dcterms:created>
  <dcterms:modified xsi:type="dcterms:W3CDTF">2026-05-04T06:14:12Z</dcterms:modified>
</cp:coreProperties>
</file>